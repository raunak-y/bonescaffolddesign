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Libre Franklin"/>
      <p:regular r:id="rId19"/>
      <p:bold r:id="rId20"/>
      <p:italic r:id="rId21"/>
      <p:boldItalic r:id="rId22"/>
    </p:embeddedFont>
    <p:embeddedFont>
      <p:font typeface="Libre Baskervill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CguAt8PXZ1rAzJBTiqz8tq/gg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.fntdata"/><Relationship Id="rId22" Type="http://schemas.openxmlformats.org/officeDocument/2006/relationships/font" Target="fonts/LibreFranklin-boldItalic.fntdata"/><Relationship Id="rId21" Type="http://schemas.openxmlformats.org/officeDocument/2006/relationships/font" Target="fonts/LibreFranklin-italic.fntdata"/><Relationship Id="rId24" Type="http://schemas.openxmlformats.org/officeDocument/2006/relationships/font" Target="fonts/LibreBaskerville-bold.fntdata"/><Relationship Id="rId23" Type="http://schemas.openxmlformats.org/officeDocument/2006/relationships/font" Target="fonts/LibreBaskervill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Baskerville-boldItalic.fntdata"/><Relationship Id="rId25" Type="http://schemas.openxmlformats.org/officeDocument/2006/relationships/font" Target="fonts/LibreBaskerville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ibreFranklin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411848f93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411848f9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411848f93_1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411848f93_1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411848f9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411848f93_1_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411848f93_1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411848f93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411848f93_1_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411848f93_2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411848f93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411848f93_2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411848f93_1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411848f9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a411848f93_1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411848f93_1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411848f9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411848f93_1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1"/>
          <p:cNvSpPr txBox="1"/>
          <p:nvPr>
            <p:ph idx="1" type="subTitle"/>
          </p:nvPr>
        </p:nvSpPr>
        <p:spPr>
          <a:xfrm>
            <a:off x="1727200" y="3200400"/>
            <a:ext cx="8534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75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5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type="ctrTitle"/>
          </p:nvPr>
        </p:nvSpPr>
        <p:spPr>
          <a:xfrm>
            <a:off x="609600" y="1505931"/>
            <a:ext cx="109728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logo&#10;&#10;Description automatically generated" id="18" name="Google Shape;1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63357" y="5229200"/>
            <a:ext cx="1465286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1"/>
          <p:cNvSpPr/>
          <p:nvPr/>
        </p:nvSpPr>
        <p:spPr>
          <a:xfrm>
            <a:off x="0" y="6525344"/>
            <a:ext cx="12192000" cy="332656"/>
          </a:xfrm>
          <a:prstGeom prst="rect">
            <a:avLst/>
          </a:prstGeom>
          <a:solidFill>
            <a:srgbClr val="9D1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1"/>
          <p:cNvSpPr txBox="1"/>
          <p:nvPr/>
        </p:nvSpPr>
        <p:spPr>
          <a:xfrm>
            <a:off x="1828800" y="6525344"/>
            <a:ext cx="8534400" cy="436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IN" sz="16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BTP Project Presentation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119336" y="1143000"/>
            <a:ext cx="7632848" cy="516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"/>
          <p:cNvSpPr/>
          <p:nvPr/>
        </p:nvSpPr>
        <p:spPr>
          <a:xfrm>
            <a:off x="0" y="6641976"/>
            <a:ext cx="12192000" cy="216024"/>
          </a:xfrm>
          <a:prstGeom prst="rect">
            <a:avLst/>
          </a:prstGeom>
          <a:gradFill>
            <a:gsLst>
              <a:gs pos="0">
                <a:srgbClr val="9D1A2A"/>
              </a:gs>
              <a:gs pos="7000">
                <a:srgbClr val="9D1A2A"/>
              </a:gs>
              <a:gs pos="100000">
                <a:srgbClr val="FFF1ED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2"/>
          <p:cNvSpPr/>
          <p:nvPr>
            <p:ph idx="12" type="sldNum"/>
          </p:nvPr>
        </p:nvSpPr>
        <p:spPr>
          <a:xfrm>
            <a:off x="-65316" y="6562196"/>
            <a:ext cx="609600" cy="350234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" name="Google Shape;25;p12"/>
          <p:cNvSpPr txBox="1"/>
          <p:nvPr/>
        </p:nvSpPr>
        <p:spPr>
          <a:xfrm>
            <a:off x="9091834" y="6638599"/>
            <a:ext cx="3165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Dept. of Mechanical Engineering, IIT Tirupati</a:t>
            </a:r>
            <a:endParaRPr/>
          </a:p>
        </p:txBody>
      </p:sp>
      <p:sp>
        <p:nvSpPr>
          <p:cNvPr id="26" name="Google Shape;26;p12"/>
          <p:cNvSpPr/>
          <p:nvPr/>
        </p:nvSpPr>
        <p:spPr>
          <a:xfrm rot="10800000">
            <a:off x="0" y="0"/>
            <a:ext cx="12192000" cy="826814"/>
          </a:xfrm>
          <a:prstGeom prst="rect">
            <a:avLst/>
          </a:prstGeom>
          <a:gradFill>
            <a:gsLst>
              <a:gs pos="0">
                <a:srgbClr val="9C1A2A"/>
              </a:gs>
              <a:gs pos="17000">
                <a:srgbClr val="9C1A2A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logo&#10;&#10;Description automatically generated" id="27" name="Google Shape;2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64552" y="92482"/>
            <a:ext cx="1004688" cy="64184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2"/>
          <p:cNvSpPr txBox="1"/>
          <p:nvPr>
            <p:ph type="title"/>
          </p:nvPr>
        </p:nvSpPr>
        <p:spPr>
          <a:xfrm>
            <a:off x="14350" y="78855"/>
            <a:ext cx="5879976" cy="7475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/>
          <p:nvPr>
            <p:ph idx="2" type="pic"/>
          </p:nvPr>
        </p:nvSpPr>
        <p:spPr>
          <a:xfrm>
            <a:off x="7968208" y="1143000"/>
            <a:ext cx="4101555" cy="51657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3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3"/>
          <p:cNvSpPr/>
          <p:nvPr/>
        </p:nvSpPr>
        <p:spPr>
          <a:xfrm flipH="1" rot="10800000">
            <a:off x="93134" y="2376489"/>
            <a:ext cx="12018433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3"/>
          <p:cNvSpPr/>
          <p:nvPr/>
        </p:nvSpPr>
        <p:spPr>
          <a:xfrm>
            <a:off x="93134" y="2341564"/>
            <a:ext cx="12018433" cy="46037"/>
          </a:xfrm>
          <a:prstGeom prst="rect">
            <a:avLst/>
          </a:prstGeom>
          <a:solidFill>
            <a:srgbClr val="CFAB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3"/>
          <p:cNvSpPr/>
          <p:nvPr/>
        </p:nvSpPr>
        <p:spPr>
          <a:xfrm>
            <a:off x="91018" y="2468564"/>
            <a:ext cx="12020549" cy="460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3"/>
          <p:cNvSpPr txBox="1"/>
          <p:nvPr>
            <p:ph type="title"/>
          </p:nvPr>
        </p:nvSpPr>
        <p:spPr>
          <a:xfrm>
            <a:off x="963084" y="9525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963084" y="2547938"/>
            <a:ext cx="103632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0" type="dt"/>
          </p:nvPr>
        </p:nvSpPr>
        <p:spPr>
          <a:xfrm>
            <a:off x="7632700" y="6308725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3"/>
          <p:cNvSpPr txBox="1"/>
          <p:nvPr>
            <p:ph idx="11" type="ftr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3"/>
          <p:cNvSpPr/>
          <p:nvPr>
            <p:ph idx="12" type="sldNum"/>
          </p:nvPr>
        </p:nvSpPr>
        <p:spPr>
          <a:xfrm>
            <a:off x="194733" y="6208713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" type="body"/>
          </p:nvPr>
        </p:nvSpPr>
        <p:spPr>
          <a:xfrm>
            <a:off x="1219200" y="1447800"/>
            <a:ext cx="49987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2" type="body"/>
          </p:nvPr>
        </p:nvSpPr>
        <p:spPr>
          <a:xfrm>
            <a:off x="6578600" y="1447800"/>
            <a:ext cx="49987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4"/>
          <p:cNvSpPr/>
          <p:nvPr>
            <p:ph idx="12" type="sldNum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1219200" y="27305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" type="body"/>
          </p:nvPr>
        </p:nvSpPr>
        <p:spPr>
          <a:xfrm>
            <a:off x="1219200" y="1447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2" type="body"/>
          </p:nvPr>
        </p:nvSpPr>
        <p:spPr>
          <a:xfrm>
            <a:off x="6604000" y="1447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3" type="body"/>
          </p:nvPr>
        </p:nvSpPr>
        <p:spPr>
          <a:xfrm>
            <a:off x="1219200" y="2247900"/>
            <a:ext cx="4978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4" type="body"/>
          </p:nvPr>
        </p:nvSpPr>
        <p:spPr>
          <a:xfrm>
            <a:off x="6604000" y="2247900"/>
            <a:ext cx="4978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/>
          <p:nvPr>
            <p:ph idx="12" type="sldNum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6"/>
          <p:cNvSpPr/>
          <p:nvPr>
            <p:ph idx="12" type="sldNum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/>
          <p:nvPr>
            <p:ph idx="12" type="sldNum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8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8"/>
          <p:cNvSpPr txBox="1"/>
          <p:nvPr>
            <p:ph type="title"/>
          </p:nvPr>
        </p:nvSpPr>
        <p:spPr>
          <a:xfrm>
            <a:off x="1219200" y="27305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1219200" y="1600200"/>
            <a:ext cx="254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3962400" y="1600200"/>
            <a:ext cx="762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8"/>
          <p:cNvSpPr/>
          <p:nvPr>
            <p:ph idx="12" type="sldNum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/>
          <p:nvPr/>
        </p:nvSpPr>
        <p:spPr>
          <a:xfrm flipH="1" rot="10800000">
            <a:off x="91018" y="4683126"/>
            <a:ext cx="12009967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9"/>
          <p:cNvSpPr/>
          <p:nvPr/>
        </p:nvSpPr>
        <p:spPr>
          <a:xfrm>
            <a:off x="91018" y="4649789"/>
            <a:ext cx="12009967" cy="46037"/>
          </a:xfrm>
          <a:prstGeom prst="rect">
            <a:avLst/>
          </a:prstGeom>
          <a:solidFill>
            <a:srgbClr val="CFAB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9"/>
          <p:cNvSpPr/>
          <p:nvPr/>
        </p:nvSpPr>
        <p:spPr>
          <a:xfrm>
            <a:off x="91018" y="4773614"/>
            <a:ext cx="12009967" cy="47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9"/>
          <p:cNvSpPr txBox="1"/>
          <p:nvPr>
            <p:ph type="title"/>
          </p:nvPr>
        </p:nvSpPr>
        <p:spPr>
          <a:xfrm>
            <a:off x="1219200" y="4900550"/>
            <a:ext cx="97536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1219200" y="5445825"/>
            <a:ext cx="9753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spcBef>
                <a:spcPts val="375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5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spcBef>
                <a:spcPts val="375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/>
          <p:nvPr>
            <p:ph idx="2" type="pic"/>
          </p:nvPr>
        </p:nvSpPr>
        <p:spPr>
          <a:xfrm>
            <a:off x="91078" y="66676"/>
            <a:ext cx="12002497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9"/>
          <p:cNvSpPr/>
          <p:nvPr>
            <p:ph idx="12" type="sldNum"/>
          </p:nvPr>
        </p:nvSpPr>
        <p:spPr>
          <a:xfrm>
            <a:off x="194733" y="6208713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4114800" y="-1447800"/>
            <a:ext cx="4572000" cy="10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0"/>
          <p:cNvSpPr/>
          <p:nvPr>
            <p:ph idx="12" type="sldNum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 rot="5400000">
            <a:off x="7254558" y="1859285"/>
            <a:ext cx="5851525" cy="26822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 rot="5400000">
            <a:off x="2001838" y="-507996"/>
            <a:ext cx="5851525" cy="74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21"/>
          <p:cNvSpPr/>
          <p:nvPr>
            <p:ph idx="12" type="sldNum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CFABA8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E7B3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3" name="Google Shape;13;p10"/>
          <p:cNvSpPr/>
          <p:nvPr>
            <p:ph idx="12" type="sldNum"/>
          </p:nvPr>
        </p:nvSpPr>
        <p:spPr>
          <a:xfrm>
            <a:off x="143339" y="6309320"/>
            <a:ext cx="609600" cy="45720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2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4.jpg"/><Relationship Id="rId5" Type="http://schemas.openxmlformats.org/officeDocument/2006/relationships/image" Target="../media/image13.jpg"/><Relationship Id="rId6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hyperlink" Target="https://docs.google.com/spreadsheets/d/14tvHG5xEfXPis-DVwaYRzlfbO0xVG9jr/edit?usp=sharing&amp;ouid=101693121891186400301&amp;rtpof=true&amp;sd=tru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283050" y="4199144"/>
            <a:ext cx="47289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Raunak Yadav ME22B044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Somil Gera ME22B051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609600" y="2464182"/>
            <a:ext cx="109728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700">
                <a:latin typeface="Times New Roman"/>
                <a:ea typeface="Times New Roman"/>
                <a:cs typeface="Times New Roman"/>
                <a:sym typeface="Times New Roman"/>
              </a:rPr>
              <a:t>Novel Organic Biomimetic Lattice Structure for Bone Analogous Applications</a:t>
            </a: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/>
          <p:nvPr>
            <p:ph idx="4294967295" type="sldNum"/>
          </p:nvPr>
        </p:nvSpPr>
        <p:spPr>
          <a:xfrm>
            <a:off x="0" y="6562725"/>
            <a:ext cx="609600" cy="349250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010835" y="4199141"/>
            <a:ext cx="47289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rPr i="0" lang="en-IN" sz="2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rPr i="0" lang="en-IN" sz="2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IN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Abir Dutta</a:t>
            </a:r>
            <a:r>
              <a:rPr i="0" lang="en-IN" sz="2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Department</a:t>
            </a:r>
            <a:r>
              <a:rPr lang="en-IN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Mechanical Engineering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09600" y="175425"/>
            <a:ext cx="109728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4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</a:t>
            </a:r>
            <a:r>
              <a:rPr lang="en-IN" sz="4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IN" sz="4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39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Indian Institute of Technology Tirupati</a:t>
            </a:r>
            <a:endParaRPr sz="39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260325" y="1601400"/>
            <a:ext cx="98091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3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B.Tech. Final Year Project Presentation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119325" y="882225"/>
            <a:ext cx="8177100" cy="55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Bone is a load‑bearing biological material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Conventional implants are much stiffer than bone leading to stress shielding which causes: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Bone resorption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Implant loosening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Failure over time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Natural bone is: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Porous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Hierarchical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Functionally graded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Need of structures that replicate bone using geometry, not just material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2715" lvl="0" marL="27305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/>
          <p:nvPr>
            <p:ph idx="12" type="sldNum"/>
          </p:nvPr>
        </p:nvSpPr>
        <p:spPr>
          <a:xfrm>
            <a:off x="-65316" y="6562196"/>
            <a:ext cx="609600" cy="350234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4" name="Google Shape;104;p2"/>
          <p:cNvSpPr txBox="1"/>
          <p:nvPr>
            <p:ph type="title"/>
          </p:nvPr>
        </p:nvSpPr>
        <p:spPr>
          <a:xfrm>
            <a:off x="14350" y="78850"/>
            <a:ext cx="92046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/>
              <a:t>Background and Motivation</a:t>
            </a:r>
            <a:endParaRPr sz="3800"/>
          </a:p>
        </p:txBody>
      </p:sp>
      <p:pic>
        <p:nvPicPr>
          <p:cNvPr id="105" name="Google Shape;10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2575" y="882225"/>
            <a:ext cx="4371975" cy="57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544275" y="1143000"/>
            <a:ext cx="10927200" cy="51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Compare multiple lattice structures for bone scaffolds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Lattices studied: SC, BCC, FCC, Fluorite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Investigate effect of strut thickness: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0.75 mm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1.0 mm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Apply identical geometry and loading for all cases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Compute Effective Young’s Modulus using deformation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Identify lattice closest to femoral bone stiffness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5"/>
          <p:cNvSpPr/>
          <p:nvPr>
            <p:ph idx="12" type="sldNum"/>
          </p:nvPr>
        </p:nvSpPr>
        <p:spPr>
          <a:xfrm>
            <a:off x="-65316" y="6562196"/>
            <a:ext cx="609600" cy="350234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2" name="Google Shape;112;p5"/>
          <p:cNvSpPr txBox="1"/>
          <p:nvPr>
            <p:ph type="title"/>
          </p:nvPr>
        </p:nvSpPr>
        <p:spPr>
          <a:xfrm>
            <a:off x="14350" y="78855"/>
            <a:ext cx="5879976" cy="7475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>
            <p:ph idx="12" type="sldNum"/>
          </p:nvPr>
        </p:nvSpPr>
        <p:spPr>
          <a:xfrm>
            <a:off x="-65316" y="6562196"/>
            <a:ext cx="609600" cy="350234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6"/>
          <p:cNvSpPr txBox="1"/>
          <p:nvPr>
            <p:ph type="title"/>
          </p:nvPr>
        </p:nvSpPr>
        <p:spPr>
          <a:xfrm>
            <a:off x="14350" y="78850"/>
            <a:ext cx="96642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Methodology and Formulation</a:t>
            </a:r>
            <a:endParaRPr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12024" l="0" r="0" t="10498"/>
          <a:stretch/>
        </p:blipFill>
        <p:spPr>
          <a:xfrm>
            <a:off x="14350" y="1054600"/>
            <a:ext cx="8612948" cy="52794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4489" l="0" r="0" t="0"/>
          <a:stretch/>
        </p:blipFill>
        <p:spPr>
          <a:xfrm>
            <a:off x="8627300" y="1054600"/>
            <a:ext cx="3445951" cy="527945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" name="Google Shape;121;p6"/>
          <p:cNvSpPr/>
          <p:nvPr/>
        </p:nvSpPr>
        <p:spPr>
          <a:xfrm>
            <a:off x="9198425" y="1295250"/>
            <a:ext cx="2303700" cy="3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87825" y="1087050"/>
            <a:ext cx="7266000" cy="55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1398525" y="1139100"/>
            <a:ext cx="5844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5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Methodology for Analyzing Lattice Structures  </a:t>
            </a:r>
            <a:endParaRPr sz="185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8756125" y="1210800"/>
            <a:ext cx="3264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5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Mathematical Formulation</a:t>
            </a:r>
            <a:endParaRPr sz="175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119319" y="1143000"/>
            <a:ext cx="11469900" cy="51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2715" lvl="0" marL="27305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Four lattice topologies were studied:</a:t>
            </a:r>
            <a:endParaRPr/>
          </a:p>
        </p:txBody>
      </p:sp>
      <p:sp>
        <p:nvSpPr>
          <p:cNvPr id="130" name="Google Shape;130;p7"/>
          <p:cNvSpPr/>
          <p:nvPr>
            <p:ph idx="12" type="sldNum"/>
          </p:nvPr>
        </p:nvSpPr>
        <p:spPr>
          <a:xfrm>
            <a:off x="-65316" y="6562196"/>
            <a:ext cx="609600" cy="350234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1" name="Google Shape;131;p7"/>
          <p:cNvSpPr txBox="1"/>
          <p:nvPr>
            <p:ph type="title"/>
          </p:nvPr>
        </p:nvSpPr>
        <p:spPr>
          <a:xfrm>
            <a:off x="14350" y="78850"/>
            <a:ext cx="74121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Types of Lattice Structures </a:t>
            </a:r>
            <a:endParaRPr/>
          </a:p>
        </p:txBody>
      </p:sp>
      <p:pic>
        <p:nvPicPr>
          <p:cNvPr id="132" name="Google Shape;13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088" y="1822300"/>
            <a:ext cx="2610064" cy="3376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7342" y="1853980"/>
            <a:ext cx="2610064" cy="3313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4593" y="1889789"/>
            <a:ext cx="2610064" cy="324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71847" y="1897759"/>
            <a:ext cx="2610066" cy="322570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 txBox="1"/>
          <p:nvPr/>
        </p:nvSpPr>
        <p:spPr>
          <a:xfrm>
            <a:off x="610100" y="5326775"/>
            <a:ext cx="261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Body Centered Cubic (BCC)</a:t>
            </a: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3397350" y="5326775"/>
            <a:ext cx="261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latin typeface="Libre Baskerville"/>
                <a:ea typeface="Libre Baskerville"/>
                <a:cs typeface="Libre Baskerville"/>
                <a:sym typeface="Libre Baskerville"/>
              </a:rPr>
              <a:t>Face </a:t>
            </a:r>
            <a:r>
              <a:rPr lang="en-IN" sz="1700">
                <a:latin typeface="Libre Baskerville"/>
                <a:ea typeface="Libre Baskerville"/>
                <a:cs typeface="Libre Baskerville"/>
                <a:sym typeface="Libre Baskerville"/>
              </a:rPr>
              <a:t>Centered Cubic (FCC)</a:t>
            </a:r>
            <a:endParaRPr sz="17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6324725" y="5326775"/>
            <a:ext cx="2329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Simple Cubic</a:t>
            </a:r>
            <a:endParaRPr sz="1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9258088" y="5326775"/>
            <a:ext cx="203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Fluorite Lattice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411848f93_1_6"/>
          <p:cNvSpPr txBox="1"/>
          <p:nvPr>
            <p:ph idx="1" type="body"/>
          </p:nvPr>
        </p:nvSpPr>
        <p:spPr>
          <a:xfrm>
            <a:off x="452375" y="1165725"/>
            <a:ext cx="6539100" cy="539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Base geometry creation (20mm x 20mm cylinder)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Selection of lattice topology (SC / BCC / FCC / Fluorite)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Unit cell definition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Strut thickness assignment (0.75 mm, 1.0 mm)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Lattice population within geometry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Final lattice model output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g3a411848f93_1_6"/>
          <p:cNvSpPr/>
          <p:nvPr>
            <p:ph idx="12" type="sldNum"/>
          </p:nvPr>
        </p:nvSpPr>
        <p:spPr>
          <a:xfrm>
            <a:off x="-65316" y="6562196"/>
            <a:ext cx="609600" cy="3501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7" name="Google Shape;147;g3a411848f93_1_6"/>
          <p:cNvSpPr txBox="1"/>
          <p:nvPr>
            <p:ph type="title"/>
          </p:nvPr>
        </p:nvSpPr>
        <p:spPr>
          <a:xfrm>
            <a:off x="14350" y="78850"/>
            <a:ext cx="9702900" cy="7476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Lattice Generation </a:t>
            </a:r>
            <a:r>
              <a:rPr lang="en-IN"/>
              <a:t>Workflow</a:t>
            </a:r>
            <a:endParaRPr/>
          </a:p>
        </p:txBody>
      </p:sp>
      <p:pic>
        <p:nvPicPr>
          <p:cNvPr id="148" name="Google Shape;148;g3a411848f93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524" y="1028100"/>
            <a:ext cx="4943475" cy="55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119325" y="1143000"/>
            <a:ext cx="3741300" cy="39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Boundary Conditions: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• Bottom face fixed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• 500 N axial load on top surface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Outputs Extracted: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• Directional deformation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• Stress &amp; strain contours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2715" lvl="0" marL="273050" rtl="0" algn="l">
              <a:spcBef>
                <a:spcPts val="120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300"/>
          </a:p>
        </p:txBody>
      </p:sp>
      <p:sp>
        <p:nvSpPr>
          <p:cNvPr id="154" name="Google Shape;154;p8"/>
          <p:cNvSpPr/>
          <p:nvPr>
            <p:ph idx="12" type="sldNum"/>
          </p:nvPr>
        </p:nvSpPr>
        <p:spPr>
          <a:xfrm>
            <a:off x="-65316" y="6562196"/>
            <a:ext cx="609600" cy="350234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5" name="Google Shape;155;p8"/>
          <p:cNvSpPr txBox="1"/>
          <p:nvPr>
            <p:ph type="title"/>
          </p:nvPr>
        </p:nvSpPr>
        <p:spPr>
          <a:xfrm>
            <a:off x="14350" y="78850"/>
            <a:ext cx="83400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Simulation Setup </a:t>
            </a:r>
            <a:endParaRPr/>
          </a:p>
        </p:txBody>
      </p:sp>
      <p:pic>
        <p:nvPicPr>
          <p:cNvPr id="156" name="Google Shape;15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959" y="978850"/>
            <a:ext cx="4135016" cy="3633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984" y="978850"/>
            <a:ext cx="4135016" cy="5076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5506175" y="6091611"/>
            <a:ext cx="50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Setup for BCC lattice with 1mm strut thickness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411848f93_1_33"/>
          <p:cNvSpPr/>
          <p:nvPr>
            <p:ph idx="12" type="sldNum"/>
          </p:nvPr>
        </p:nvSpPr>
        <p:spPr>
          <a:xfrm>
            <a:off x="-65316" y="6562196"/>
            <a:ext cx="609600" cy="3501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5" name="Google Shape;165;g3a411848f93_1_33"/>
          <p:cNvSpPr txBox="1"/>
          <p:nvPr>
            <p:ph type="title"/>
          </p:nvPr>
        </p:nvSpPr>
        <p:spPr>
          <a:xfrm>
            <a:off x="14350" y="78850"/>
            <a:ext cx="8965500" cy="7476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Displacement Field Results</a:t>
            </a:r>
            <a:endParaRPr/>
          </a:p>
        </p:txBody>
      </p:sp>
      <p:sp>
        <p:nvSpPr>
          <p:cNvPr id="166" name="Google Shape;166;g3a411848f93_1_33"/>
          <p:cNvSpPr txBox="1"/>
          <p:nvPr/>
        </p:nvSpPr>
        <p:spPr>
          <a:xfrm>
            <a:off x="219425" y="892622"/>
            <a:ext cx="694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 1 mm strut thickness</a:t>
            </a:r>
            <a:endParaRPr sz="2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67" name="Google Shape;167;g3a411848f93_1_33"/>
          <p:cNvPicPr preferRelativeResize="0"/>
          <p:nvPr/>
        </p:nvPicPr>
        <p:blipFill rotWithShape="1">
          <a:blip r:embed="rId3">
            <a:alphaModFix/>
          </a:blip>
          <a:srcRect b="0" l="-2610" r="5220" t="0"/>
          <a:stretch/>
        </p:blipFill>
        <p:spPr>
          <a:xfrm>
            <a:off x="337900" y="1503949"/>
            <a:ext cx="2756476" cy="25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a411848f93_1_33"/>
          <p:cNvPicPr preferRelativeResize="0"/>
          <p:nvPr/>
        </p:nvPicPr>
        <p:blipFill rotWithShape="1">
          <a:blip r:embed="rId4">
            <a:alphaModFix/>
          </a:blip>
          <a:srcRect b="0" l="0" r="-2753" t="0"/>
          <a:stretch/>
        </p:blipFill>
        <p:spPr>
          <a:xfrm>
            <a:off x="416869" y="4084875"/>
            <a:ext cx="2756474" cy="2554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a411848f93_1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5530" y="1442450"/>
            <a:ext cx="2756476" cy="25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a411848f93_1_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5525" y="4031775"/>
            <a:ext cx="2756475" cy="26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a411848f93_1_33"/>
          <p:cNvSpPr txBox="1"/>
          <p:nvPr/>
        </p:nvSpPr>
        <p:spPr>
          <a:xfrm>
            <a:off x="3094375" y="2442700"/>
            <a:ext cx="353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BCC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displacement = 7.935 X 10</a:t>
            </a:r>
            <a:r>
              <a:rPr baseline="30000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-4 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g3a411848f93_1_33"/>
          <p:cNvSpPr txBox="1"/>
          <p:nvPr/>
        </p:nvSpPr>
        <p:spPr>
          <a:xfrm>
            <a:off x="3080296" y="4946525"/>
            <a:ext cx="36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displacement = 2.7272 X 10</a:t>
            </a:r>
            <a:r>
              <a:rPr baseline="30000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-4 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g3a411848f93_1_33"/>
          <p:cNvSpPr txBox="1"/>
          <p:nvPr/>
        </p:nvSpPr>
        <p:spPr>
          <a:xfrm>
            <a:off x="8912000" y="4946525"/>
            <a:ext cx="36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Fluorite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displacement = 2.2051 X 10</a:t>
            </a:r>
            <a:r>
              <a:rPr baseline="30000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-4 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a411848f93_1_33"/>
          <p:cNvSpPr txBox="1"/>
          <p:nvPr/>
        </p:nvSpPr>
        <p:spPr>
          <a:xfrm>
            <a:off x="8912000" y="2504200"/>
            <a:ext cx="36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displacement = 1.3562 X 10</a:t>
            </a:r>
            <a:r>
              <a:rPr baseline="30000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 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411848f93_1_47"/>
          <p:cNvSpPr/>
          <p:nvPr>
            <p:ph idx="12" type="sldNum"/>
          </p:nvPr>
        </p:nvSpPr>
        <p:spPr>
          <a:xfrm>
            <a:off x="-65316" y="6562196"/>
            <a:ext cx="609600" cy="3501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1" name="Google Shape;181;g3a411848f93_1_47"/>
          <p:cNvSpPr txBox="1"/>
          <p:nvPr>
            <p:ph type="title"/>
          </p:nvPr>
        </p:nvSpPr>
        <p:spPr>
          <a:xfrm>
            <a:off x="14350" y="78850"/>
            <a:ext cx="8965500" cy="7476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Displacement Field Results</a:t>
            </a:r>
            <a:endParaRPr/>
          </a:p>
        </p:txBody>
      </p:sp>
      <p:sp>
        <p:nvSpPr>
          <p:cNvPr id="182" name="Google Shape;182;g3a411848f93_1_47"/>
          <p:cNvSpPr txBox="1"/>
          <p:nvPr/>
        </p:nvSpPr>
        <p:spPr>
          <a:xfrm>
            <a:off x="219425" y="826450"/>
            <a:ext cx="694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 0.75 mm strut thickness</a:t>
            </a:r>
            <a:endParaRPr sz="2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3" name="Google Shape;183;g3a411848f93_1_47"/>
          <p:cNvSpPr/>
          <p:nvPr/>
        </p:nvSpPr>
        <p:spPr>
          <a:xfrm>
            <a:off x="415075" y="4107350"/>
            <a:ext cx="2679300" cy="2537400"/>
          </a:xfrm>
          <a:prstGeom prst="rect">
            <a:avLst/>
          </a:prstGeom>
          <a:solidFill>
            <a:srgbClr val="26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84" name="Google Shape;184;g3a411848f93_1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97" y="4105454"/>
            <a:ext cx="2150799" cy="247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a411848f93_1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736" y="1374861"/>
            <a:ext cx="2756475" cy="265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a411848f93_1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239" y="1374850"/>
            <a:ext cx="2679300" cy="27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a411848f93_1_47"/>
          <p:cNvSpPr txBox="1"/>
          <p:nvPr/>
        </p:nvSpPr>
        <p:spPr>
          <a:xfrm>
            <a:off x="3094375" y="2442700"/>
            <a:ext cx="353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BCC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displacement = 8.593 X 10</a:t>
            </a:r>
            <a:r>
              <a:rPr baseline="30000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-4 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a411848f93_1_47"/>
          <p:cNvSpPr txBox="1"/>
          <p:nvPr/>
        </p:nvSpPr>
        <p:spPr>
          <a:xfrm>
            <a:off x="8912000" y="2425338"/>
            <a:ext cx="36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displacement = 7.8519 X 10</a:t>
            </a:r>
            <a:r>
              <a:rPr baseline="30000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 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a411848f93_1_47"/>
          <p:cNvSpPr txBox="1"/>
          <p:nvPr/>
        </p:nvSpPr>
        <p:spPr>
          <a:xfrm>
            <a:off x="3094375" y="4946525"/>
            <a:ext cx="36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FCC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displacement = 1.6677 X 10</a:t>
            </a:r>
            <a:r>
              <a:rPr baseline="30000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 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g3a411848f93_1_47"/>
          <p:cNvSpPr txBox="1"/>
          <p:nvPr/>
        </p:nvSpPr>
        <p:spPr>
          <a:xfrm>
            <a:off x="8979850" y="4946525"/>
            <a:ext cx="36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Fluorite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displacement = 3.7424 X 10</a:t>
            </a:r>
            <a:r>
              <a:rPr baseline="30000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-4 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g3a411848f93_1_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7725" y="4061550"/>
            <a:ext cx="2756475" cy="25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411848f93_2_50"/>
          <p:cNvSpPr/>
          <p:nvPr>
            <p:ph idx="12" type="sldNum"/>
          </p:nvPr>
        </p:nvSpPr>
        <p:spPr>
          <a:xfrm>
            <a:off x="-65316" y="6562196"/>
            <a:ext cx="609600" cy="3501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8" name="Google Shape;198;g3a411848f93_2_50"/>
          <p:cNvSpPr txBox="1"/>
          <p:nvPr>
            <p:ph type="title"/>
          </p:nvPr>
        </p:nvSpPr>
        <p:spPr>
          <a:xfrm>
            <a:off x="14350" y="78850"/>
            <a:ext cx="8680200" cy="7476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Effective Young’s Modulus</a:t>
            </a:r>
            <a:endParaRPr/>
          </a:p>
        </p:txBody>
      </p:sp>
      <p:pic>
        <p:nvPicPr>
          <p:cNvPr id="199" name="Google Shape;199;g3a411848f93_2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9975"/>
            <a:ext cx="8997750" cy="52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a411848f93_2_50"/>
          <p:cNvSpPr txBox="1"/>
          <p:nvPr/>
        </p:nvSpPr>
        <p:spPr>
          <a:xfrm>
            <a:off x="8773800" y="1965650"/>
            <a:ext cx="34182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Fluorite lattice shows the highest stiffness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FCC is second strongest structure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Cubic shows the largest deformation → lowest stiffness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strut thickness increases stiffness in all cases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FCC (0.75 mm) and Simple Cubic (1 mm) have Young’s modulus comparable to femoral bone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IN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Results sheet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411848f93_1_14"/>
          <p:cNvSpPr txBox="1"/>
          <p:nvPr>
            <p:ph idx="1" type="body"/>
          </p:nvPr>
        </p:nvSpPr>
        <p:spPr>
          <a:xfrm>
            <a:off x="119319" y="1143000"/>
            <a:ext cx="11730300" cy="516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575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evelopment and evaluation of lattice‑based scaffold structures for bone analogous applications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Consistent framework for comparing the macroscopic stiffness behaviour of different lattice structures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FCC lattice with 0.75 mm thick struts and the Simple Cubic lattice with 1 mm struts, which can be used for the design of femoral scaffolds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g3a411848f93_1_14"/>
          <p:cNvSpPr/>
          <p:nvPr>
            <p:ph idx="12" type="sldNum"/>
          </p:nvPr>
        </p:nvSpPr>
        <p:spPr>
          <a:xfrm>
            <a:off x="-65316" y="6562196"/>
            <a:ext cx="609600" cy="3501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8" name="Google Shape;208;g3a411848f93_1_14"/>
          <p:cNvSpPr txBox="1"/>
          <p:nvPr>
            <p:ph type="title"/>
          </p:nvPr>
        </p:nvSpPr>
        <p:spPr>
          <a:xfrm>
            <a:off x="14350" y="78855"/>
            <a:ext cx="5880000" cy="7476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Conclusion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411848f93_1_22"/>
          <p:cNvSpPr/>
          <p:nvPr>
            <p:ph idx="12" type="sldNum"/>
          </p:nvPr>
        </p:nvSpPr>
        <p:spPr>
          <a:xfrm>
            <a:off x="-65316" y="6562196"/>
            <a:ext cx="609600" cy="3501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5" name="Google Shape;215;g3a411848f93_1_22"/>
          <p:cNvSpPr txBox="1"/>
          <p:nvPr>
            <p:ph type="title"/>
          </p:nvPr>
        </p:nvSpPr>
        <p:spPr>
          <a:xfrm>
            <a:off x="14350" y="78855"/>
            <a:ext cx="5880000" cy="7476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Future Work</a:t>
            </a:r>
            <a:endParaRPr/>
          </a:p>
        </p:txBody>
      </p:sp>
      <p:pic>
        <p:nvPicPr>
          <p:cNvPr id="216" name="Google Shape;216;g3a411848f93_1_22"/>
          <p:cNvPicPr preferRelativeResize="0"/>
          <p:nvPr/>
        </p:nvPicPr>
        <p:blipFill rotWithShape="1">
          <a:blip r:embed="rId3">
            <a:alphaModFix/>
          </a:blip>
          <a:srcRect b="30706" l="0" r="0" t="4864"/>
          <a:stretch/>
        </p:blipFill>
        <p:spPr>
          <a:xfrm>
            <a:off x="0" y="962975"/>
            <a:ext cx="12192000" cy="53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>
            <p:ph idx="12" type="sldNum"/>
          </p:nvPr>
        </p:nvSpPr>
        <p:spPr>
          <a:xfrm>
            <a:off x="-65316" y="6562196"/>
            <a:ext cx="609600" cy="350234"/>
          </a:xfrm>
          <a:prstGeom prst="ellipse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2" name="Google Shape;222;p9"/>
          <p:cNvSpPr txBox="1"/>
          <p:nvPr>
            <p:ph type="title"/>
          </p:nvPr>
        </p:nvSpPr>
        <p:spPr>
          <a:xfrm>
            <a:off x="3156007" y="2953094"/>
            <a:ext cx="58800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quity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2013-02-14T05:37:55Z</dcterms:created>
  <dc:creator>Owner</dc:creator>
</cp:coreProperties>
</file>